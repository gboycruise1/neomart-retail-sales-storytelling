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2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728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822960"/>
            <a:ext cx="3291840" cy="329184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2F3C7E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NEOMART STORES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Growth, Profit Decline: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7C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Data-Driven Investigation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performance review across regions, categories, and operations  •  2,000 transactions analyzed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349240"/>
            <a:ext cx="9144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Data Analytics Team  |  Junior Data Analyst Capstone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are up. Profit isn't keeping pace.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3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80136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560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95351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to Dec, driven by H2 momentum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6704" y="16002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33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11296" y="180136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11296" y="2560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profit margin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11296" y="295351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18-20% healthy retail benchmark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44768" y="16002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33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80136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region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2560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drags down the average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95351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of sales, only 24% of profit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42832" y="16002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33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07424" y="180136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-0.45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07424" y="2560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Discount-to-profit correlation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07424" y="295351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discounts are quietly eating margin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109167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33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114800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453128"/>
            <a:ext cx="3194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climbed steadily through the year, peaking in Q4 — demand and market reach are clearly growing.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45864" y="4160520"/>
            <a:ext cx="0" cy="169164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0184" y="4114800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0184" y="4453128"/>
            <a:ext cx="3194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grew far slower than sales. One region, one category, and heavy discounting are the main drags on margin.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43088" y="4160520"/>
            <a:ext cx="0" cy="169164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7408" y="4114800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17408" y="4453128"/>
            <a:ext cx="3194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South's delivery operations, rebalance the Furniture mix, and cap discounting above 20% to recover margin.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NeoMart Sales &amp; Profitability Review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· THE CORE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and profit have decoupled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rose 25% across the year, but profit grew only 15% — and flattened entirely after September.</a:t>
            </a:r>
            <a:endParaRPr lang="en-US" sz="1350" dirty="0"/>
          </a:p>
        </p:txBody>
      </p:sp>
      <p:pic>
        <p:nvPicPr>
          <p:cNvPr id="5" name="Image 0" descr="/home/claude/charts/01_sales_profit_tre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783080"/>
            <a:ext cx="786384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78240" y="1783080"/>
            <a:ext cx="2834640" cy="4434840"/>
          </a:xfrm>
          <a:prstGeom prst="roundRect">
            <a:avLst>
              <a:gd name="adj" fmla="val 2581"/>
            </a:avLst>
          </a:prstGeom>
          <a:solidFill>
            <a:srgbClr val="F7F8FC"/>
          </a:solidFill>
          <a:ln/>
        </p:spPr>
      </p:sp>
      <p:sp>
        <p:nvSpPr>
          <p:cNvPr id="7" name="Text 4"/>
          <p:cNvSpPr/>
          <p:nvPr/>
        </p:nvSpPr>
        <p:spPr>
          <a:xfrm>
            <a:off x="900684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006840" y="2377440"/>
            <a:ext cx="2377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 is real — Q4 hit $201K, the year's high.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profit has barely moved since August, hovering near $24-26K a month.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dollar of revenue from H2 onward earned far less margin than earlier in the year.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NeoMart Sales &amp; Profitability Review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· REGIONAL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 sells the most — and profits the least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generates $738K in sales (36% of total) but only $62K in profit — an 8.4% margin versus 14-15% everywhere else.</a:t>
            </a:r>
            <a:endParaRPr lang="en-US" sz="1350" dirty="0"/>
          </a:p>
        </p:txBody>
      </p:sp>
      <p:pic>
        <p:nvPicPr>
          <p:cNvPr id="5" name="Image 0" descr="/home/claude/charts/02_region_sales_profi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783080"/>
            <a:ext cx="694944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783080"/>
            <a:ext cx="3794760" cy="4297680"/>
          </a:xfrm>
          <a:prstGeom prst="roundRect">
            <a:avLst>
              <a:gd name="adj" fmla="val 1928"/>
            </a:avLst>
          </a:prstGeom>
          <a:solidFill>
            <a:srgbClr val="FFF1F1"/>
          </a:solidFill>
          <a:ln/>
        </p:spPr>
      </p:sp>
      <p:sp>
        <p:nvSpPr>
          <p:cNvPr id="7" name="Text 4"/>
          <p:cNvSpPr/>
          <p:nvPr/>
        </p:nvSpPr>
        <p:spPr>
          <a:xfrm>
            <a:off x="8074152" y="201168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REGION RED FLAGS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074152" y="2423160"/>
            <a:ext cx="328269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satisfaction: 3.15 / 5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4.2+ in every other region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time: 7.6 days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double the 4.0-day average elsewhere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8.4% vs. 14-15%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delivery and low satisfaction are coinciding with the weakest margin in the business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NeoMart Sales &amp; Profitability Review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· PRODUCT MIX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 sells big, earns little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is the top revenue driver ($1.02M) but converts only 3.7% to profit — versus 20-24% for Electronics and Office Supplies.</a:t>
            </a:r>
            <a:endParaRPr lang="en-US" sz="1350" dirty="0"/>
          </a:p>
        </p:txBody>
      </p:sp>
      <p:pic>
        <p:nvPicPr>
          <p:cNvPr id="5" name="Image 0" descr="/home/claude/charts/03_category_mar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828800"/>
            <a:ext cx="704088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920240"/>
            <a:ext cx="3703320" cy="1207008"/>
          </a:xfrm>
          <a:prstGeom prst="roundRect">
            <a:avLst>
              <a:gd name="adj" fmla="val 5303"/>
            </a:avLst>
          </a:prstGeom>
          <a:solidFill>
            <a:srgbClr val="F7F8FC"/>
          </a:solidFill>
          <a:ln/>
          <a:effectLst>
            <a:outerShdw blurRad="127000" dist="38100" dir="5400000" algn="bl" rotWithShape="0">
              <a:srgbClr val="1E233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10728" y="2039112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10728" y="237744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Sales $330K   ·   Profit $79K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10728" y="267004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 margin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909560" y="3273552"/>
            <a:ext cx="3703320" cy="1207008"/>
          </a:xfrm>
          <a:prstGeom prst="roundRect">
            <a:avLst>
              <a:gd name="adj" fmla="val 5303"/>
            </a:avLst>
          </a:prstGeom>
          <a:solidFill>
            <a:srgbClr val="F7F8FC"/>
          </a:solidFill>
          <a:ln/>
          <a:effectLst>
            <a:outerShdw blurRad="127000" dist="38100" dir="5400000" algn="bl" rotWithShape="0">
              <a:srgbClr val="1E233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10728" y="3392424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10728" y="373075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Sales $704K   ·   Profit $140K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110728" y="4023360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19.9% margin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909560" y="4626864"/>
            <a:ext cx="3703320" cy="1207008"/>
          </a:xfrm>
          <a:prstGeom prst="roundRect">
            <a:avLst>
              <a:gd name="adj" fmla="val 5303"/>
            </a:avLst>
          </a:prstGeom>
          <a:solidFill>
            <a:srgbClr val="FFF1F1"/>
          </a:solidFill>
          <a:ln/>
          <a:effectLst>
            <a:outerShdw blurRad="127000" dist="38100" dir="5400000" algn="bl" rotWithShape="0">
              <a:srgbClr val="1E233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10728" y="4745736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10728" y="5084064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Sales $1,019K   ·   Profit $38K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110728" y="53766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 margin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NeoMart Sales &amp; Profitability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· WHAT'S DRIVING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Discounting and delivery delays explain the gap</a:t>
            </a:r>
            <a:endParaRPr lang="en-US" sz="2700" dirty="0"/>
          </a:p>
        </p:txBody>
      </p:sp>
      <p:pic>
        <p:nvPicPr>
          <p:cNvPr id="4" name="Image 0" descr="/home/claude/charts/04_discount_profi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17320"/>
            <a:ext cx="553212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13892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discounts shrink profit per order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544068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discounted 20%+ average just $65 profit, vs. $164 at 0-10% discount</a:t>
            </a:r>
            <a:endParaRPr lang="en-US" sz="1050" dirty="0"/>
          </a:p>
        </p:txBody>
      </p:sp>
      <p:pic>
        <p:nvPicPr>
          <p:cNvPr id="7" name="Image 1" descr="/home/claude/charts/05_satisfaction_deliver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63640" y="1417320"/>
            <a:ext cx="5486400" cy="365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5138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delivery tracks with lower satisfaction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263640" y="5440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and delivery time correlate at -0.62 — South's 7.6-day average lines up with its 3.15 rating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099048" y="1554480"/>
            <a:ext cx="0" cy="420624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NeoMart Sales &amp; Profitability Review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2F3C7E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 to close the profit gap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166360" cy="1920240"/>
          </a:xfrm>
          <a:prstGeom prst="roundRect">
            <a:avLst>
              <a:gd name="adj" fmla="val 4286"/>
            </a:avLst>
          </a:prstGeom>
          <a:solidFill>
            <a:srgbClr val="26326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476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96112" y="2496312"/>
            <a:ext cx="4654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South's delivery operations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898648"/>
            <a:ext cx="4654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logistics bottlenecks driving the 7.6-day average; this region alone could add meaningful margin if it matched the 4-day network average.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166360" cy="1920240"/>
          </a:xfrm>
          <a:prstGeom prst="roundRect">
            <a:avLst>
              <a:gd name="adj" fmla="val 4286"/>
            </a:avLst>
          </a:prstGeom>
          <a:solidFill>
            <a:srgbClr val="26326B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9476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382512" y="2496312"/>
            <a:ext cx="4654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discounts above 20%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82512" y="2898648"/>
            <a:ext cx="4654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past the 20% threshold average under half the profit of lightly-discounted ones. Set a margin floor before approving deep discounts.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5166360" cy="1920240"/>
          </a:xfrm>
          <a:prstGeom prst="roundRect">
            <a:avLst>
              <a:gd name="adj" fmla="val 4286"/>
            </a:avLst>
          </a:prstGeom>
          <a:solidFill>
            <a:srgbClr val="26326B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41422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6112" y="4690872"/>
            <a:ext cx="4654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Re-price or re-source Furniture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" y="5093208"/>
            <a:ext cx="4654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3.7% margin against 20-24% in other categories, review supplier costs and pricing — or shift marketing spend toward Electronics and Office Supplies.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977640"/>
            <a:ext cx="5166360" cy="1920240"/>
          </a:xfrm>
          <a:prstGeom prst="roundRect">
            <a:avLst>
              <a:gd name="adj" fmla="val 4286"/>
            </a:avLst>
          </a:prstGeom>
          <a:solidFill>
            <a:srgbClr val="26326B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41422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82512" y="4690872"/>
            <a:ext cx="4654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margin, not just revenue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82512" y="5093208"/>
            <a:ext cx="4654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profit-margin KPIs to monthly reviews alongside sales totals so a repeat of this sales-up/profit-flat pattern is caught early.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2910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four actions target the exact gaps the data identified — region, discounting, product mix, and reporting visibility.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5079</TotalTime>
  <Words>664</Words>
  <Application>Microsoft Office PowerPoint</Application>
  <PresentationFormat>Widescreen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NeoMart Sales &amp; Profitability Review</dc:title>
  <dc:subject>PptxGenJS Presentation</dc:subject>
  <dc:creator>NeoMart Analytics</dc:creator>
  <cp:lastModifiedBy>Godsgift Samuel</cp:lastModifiedBy>
  <cp:revision>2</cp:revision>
  <dcterms:created xsi:type="dcterms:W3CDTF">2026-06-29T18:25:02Z</dcterms:created>
  <dcterms:modified xsi:type="dcterms:W3CDTF">2026-07-03T07:11:09Z</dcterms:modified>
</cp:coreProperties>
</file>